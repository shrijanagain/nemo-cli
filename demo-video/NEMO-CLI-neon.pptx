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NEMO is a local coding agent for the terminal. One prompt becomes a real tool loop that writes code, runs it and checks its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slides: the loop, the surface, autonomy, principles, quickstart, a live demo, the proof and the memory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movement: how a single turn actually executes.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beats per turn. The agent never assumes an edit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Tools, context, sessions, rules. That is the whole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function decides allow, ask or deny. Destructive always asks unless you opted into full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bias is subtraction: no vector DB, no daemon, no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 from the recorded session: three files, zero dependencies, zero trackers.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recorded demo plays.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command and the one-liner.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110-45-235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5577840" y="-91439"/>
            <a:ext cx="8229600" cy="8229600"/>
          </a:xfrm>
          <a:prstGeom prst="rect">
            <a:avLst/>
          </a:prstGeom>
        </p:spPr>
      </p:pic>
      <p:pic>
        <p:nvPicPr>
          <p:cNvPr id="3" name="Picture 2" descr="glow-255-40-150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8412480" y="3108960"/>
            <a:ext cx="5486400" cy="5486400"/>
          </a:xfrm>
          <a:prstGeom prst="rect">
            <a:avLst/>
          </a:prstGeom>
        </p:spPr>
      </p:pic>
      <p:pic>
        <p:nvPicPr>
          <p:cNvPr id="4" name="Picture 3" descr="neon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-1325880"/>
            <a:ext cx="7406640" cy="7406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78638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spc="320" cap="all">
                <a:solidFill>
                  <a:srgbClr val="FFFFFF">
                    <a:alpha val="85000"/>
                  </a:srgbClr>
                </a:solidFill>
                <a:latin typeface="Segoe UI"/>
              </a:rPr>
              <a:t>NEMO CLI</a:t>
            </a:r>
            <a:r>
              <a:rPr sz="850" b="0" i="0" spc="320" cap="all">
                <a:solidFill>
                  <a:srgbClr val="8E93A3">
                    <a:alpha val="85000"/>
                  </a:srgbClr>
                </a:solidFill>
                <a:latin typeface="Segoe UI"/>
              </a:rPr>
              <a:t>   ·   NV 1.2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800" b="0" i="0" spc="-300">
                <a:solidFill>
                  <a:srgbClr val="FFFFFF"/>
                </a:solidFill>
                <a:latin typeface="Arial Black"/>
              </a:rPr>
              <a:t>NEMO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55264"/>
            <a:ext cx="1417320" cy="50292"/>
          </a:xfrm>
          <a:prstGeom prst="rect">
            <a:avLst/>
          </a:prstGeom>
          <a:solidFill>
            <a:srgbClr val="E2F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56432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FFFFFF">
                    <a:alpha val="95000"/>
                  </a:srgbClr>
                </a:solidFill>
                <a:latin typeface="Segoe UI"/>
              </a:rPr>
              <a:t>The autonomous coding agent,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C9CCD6">
                    <a:alpha val="95000"/>
                  </a:srgbClr>
                </a:solidFill>
                <a:latin typeface="Segoe UI"/>
              </a:rPr>
              <a:t>in your terminal.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6126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8E93A3"/>
                </a:solidFill>
                <a:latin typeface="Segoe UI"/>
              </a:rPr>
              <a:t>One prompt. A real tool loop. It writes the code, runs it, reads the output and fixes what it broke.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704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 spc="300" cap="all">
                <a:solidFill>
                  <a:srgbClr val="E2FF54"/>
                </a:solidFill>
                <a:latin typeface="Segoe UI"/>
              </a:rPr>
              <a:t>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533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C9CCD6"/>
                </a:solidFill>
                <a:latin typeface="Segoe UI"/>
              </a:rPr>
              <a:t>Node +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58704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 spc="300" cap="all">
                <a:solidFill>
                  <a:srgbClr val="E2FF54"/>
                </a:solidFill>
                <a:latin typeface="Segoe UI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60533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C9CCD6"/>
                </a:solidFill>
                <a:latin typeface="Segoe UI"/>
              </a:rPr>
              <a:t>NVIDIA NIM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8704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 spc="300" cap="all">
                <a:solidFill>
                  <a:srgbClr val="E2FF54"/>
                </a:solidFill>
                <a:latin typeface="Segoe UI"/>
              </a:rPr>
              <a:t>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0533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C9CCD6"/>
                </a:solidFill>
                <a:latin typeface="Segoe UI"/>
              </a:rPr>
              <a:t>Apache-2.0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01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INTRO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110-45-235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2560320" y="3291839"/>
            <a:ext cx="7315200" cy="731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686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spc="320" cap="all">
                <a:solidFill>
                  <a:srgbClr val="E2FF54"/>
                </a:solidFill>
                <a:latin typeface="Segoe U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4400" b="1" i="0" spc="-120">
                <a:solidFill>
                  <a:srgbClr val="FFFFFF"/>
                </a:solidFill>
                <a:latin typeface="Segoe UI"/>
              </a:rPr>
              <a:t>What's </a:t>
            </a:r>
            <a:r>
              <a:rPr sz="4400" b="1" i="0" spc="-120">
                <a:solidFill>
                  <a:srgbClr val="E2FF54"/>
                </a:solidFill>
                <a:latin typeface="Segoe UI"/>
              </a:rPr>
              <a:t>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-50">
                <a:solidFill>
                  <a:srgbClr val="7B5CFF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71576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FFFF"/>
                </a:solidFill>
                <a:latin typeface="Segoe UI"/>
              </a:rPr>
              <a:t>The loop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3264408"/>
            <a:ext cx="4434840" cy="0"/>
          </a:xfrm>
          <a:prstGeom prst="line">
            <a:avLst/>
          </a:prstGeom>
          <a:ln w="9525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36301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-50">
                <a:solidFill>
                  <a:srgbClr val="7B5CFF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64845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FFFF"/>
                </a:solidFill>
                <a:latin typeface="Segoe UI"/>
              </a:rPr>
              <a:t>Surface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197096"/>
            <a:ext cx="4434840" cy="0"/>
          </a:xfrm>
          <a:prstGeom prst="line">
            <a:avLst/>
          </a:prstGeom>
          <a:ln w="9525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5628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-50">
                <a:solidFill>
                  <a:srgbClr val="7B5CFF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5811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FFFF"/>
                </a:solidFill>
                <a:latin typeface="Segoe UI"/>
              </a:rPr>
              <a:t>Autonomy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5129784"/>
            <a:ext cx="4434840" cy="0"/>
          </a:xfrm>
          <a:prstGeom prst="line">
            <a:avLst/>
          </a:prstGeom>
          <a:ln w="9525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549554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-50">
                <a:solidFill>
                  <a:srgbClr val="7B5CFF"/>
                </a:solidFill>
                <a:latin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513831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FFFF"/>
                </a:solidFill>
                <a:latin typeface="Segoe UI"/>
              </a:rPr>
              <a:t>Principles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6062472"/>
            <a:ext cx="4434840" cy="0"/>
          </a:xfrm>
          <a:prstGeom prst="line">
            <a:avLst/>
          </a:prstGeom>
          <a:ln w="9525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-50">
                <a:solidFill>
                  <a:srgbClr val="7B5CFF"/>
                </a:solidFill>
                <a:latin typeface="Segoe U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71576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FFFF"/>
                </a:solidFill>
                <a:latin typeface="Segoe UI"/>
              </a:rPr>
              <a:t>Quickstart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0" y="3264408"/>
            <a:ext cx="4434840" cy="0"/>
          </a:xfrm>
          <a:prstGeom prst="line">
            <a:avLst/>
          </a:prstGeom>
          <a:ln w="9525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0" y="36301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-50">
                <a:solidFill>
                  <a:srgbClr val="7B5CFF"/>
                </a:solidFill>
                <a:latin typeface="Segoe U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64845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FFFF"/>
                </a:solidFill>
                <a:latin typeface="Segoe UI"/>
              </a:rPr>
              <a:t>Live demo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0" y="4197096"/>
            <a:ext cx="4434840" cy="0"/>
          </a:xfrm>
          <a:prstGeom prst="line">
            <a:avLst/>
          </a:prstGeom>
          <a:ln w="9525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0" y="45628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-50">
                <a:solidFill>
                  <a:srgbClr val="7B5CFF"/>
                </a:solidFill>
                <a:latin typeface="Segoe U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5811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FFFF"/>
                </a:solidFill>
                <a:latin typeface="Segoe UI"/>
              </a:rPr>
              <a:t>Proof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0" y="5129784"/>
            <a:ext cx="4434840" cy="0"/>
          </a:xfrm>
          <a:prstGeom prst="line">
            <a:avLst/>
          </a:prstGeom>
          <a:ln w="9525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0" y="549554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-50">
                <a:solidFill>
                  <a:srgbClr val="7B5CFF"/>
                </a:solidFill>
                <a:latin typeface="Segoe U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513831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FFFF"/>
                </a:solidFill>
                <a:latin typeface="Segoe UI"/>
              </a:rPr>
              <a:t>Memory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7920" y="6062472"/>
            <a:ext cx="4434840" cy="0"/>
          </a:xfrm>
          <a:prstGeom prst="line">
            <a:avLst/>
          </a:prstGeom>
          <a:ln w="9525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02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CONTENTS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95-45-230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983479" y="-1417319"/>
            <a:ext cx="8686800" cy="8686800"/>
          </a:xfrm>
          <a:prstGeom prst="rect">
            <a:avLst/>
          </a:prstGeom>
        </p:spPr>
      </p:pic>
      <p:pic>
        <p:nvPicPr>
          <p:cNvPr id="3" name="Picture 2" descr="glow-255-40-150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818120" y="2331720"/>
            <a:ext cx="5943600" cy="5943600"/>
          </a:xfrm>
          <a:prstGeom prst="rect">
            <a:avLst/>
          </a:prstGeom>
        </p:spPr>
      </p:pic>
      <p:pic>
        <p:nvPicPr>
          <p:cNvPr id="4" name="Picture 3" descr="neon-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2920"/>
            <a:ext cx="6400800" cy="640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8686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spc="340" cap="all">
                <a:solidFill>
                  <a:srgbClr val="E2FF54"/>
                </a:solidFill>
                <a:latin typeface="Segoe UI"/>
              </a:rPr>
              <a:t>SECTION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3703320" cy="822960"/>
          </a:xfrm>
          <a:prstGeom prst="rect">
            <a:avLst/>
          </a:prstGeom>
          <a:solidFill>
            <a:srgbClr val="E2F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0078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 spc="-100">
                <a:solidFill>
                  <a:srgbClr val="000000"/>
                </a:solidFill>
                <a:latin typeface="Segoe UI"/>
              </a:rPr>
              <a:t>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CCD6"/>
                </a:solidFill>
                <a:latin typeface="Segoe UI"/>
              </a:rPr>
              <a:t>Plan, act, verify — and know when to forget.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0" b="0" i="0" spc="-600">
                <a:solidFill>
                  <a:srgbClr val="7B5CFF">
                    <a:alpha val="90000"/>
                  </a:srgbClr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03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THE LOOP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255-40-150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7772400" y="-2286000"/>
            <a:ext cx="6400800" cy="640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686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spc="320" cap="all">
                <a:solidFill>
                  <a:srgbClr val="E2FF54"/>
                </a:solidFill>
                <a:latin typeface="Segoe UI"/>
              </a:rPr>
              <a:t>01 —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 i="0" spc="-120">
                <a:solidFill>
                  <a:srgbClr val="FFFFFF"/>
                </a:solidFill>
                <a:latin typeface="Segoe UI"/>
              </a:rPr>
              <a:t>Plans. Writes. Runs.</a:t>
            </a:r>
          </a:p>
          <a:p>
            <a:pPr algn="l">
              <a:lnSpc>
                <a:spcPct val="102000"/>
              </a:lnSpc>
            </a:pPr>
            <a:r>
              <a:rPr sz="3800" b="1" i="0" spc="-120">
                <a:solidFill>
                  <a:srgbClr val="C9CCD6"/>
                </a:solidFill>
                <a:latin typeface="Segoe UI"/>
              </a:rPr>
              <a:t>Then checks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27248"/>
            <a:ext cx="2487168" cy="1993392"/>
          </a:xfrm>
          <a:prstGeom prst="roundRect">
            <a:avLst>
              <a:gd name="adj" fmla="val 6000"/>
            </a:avLst>
          </a:prstGeom>
          <a:solidFill>
            <a:srgbClr val="0C0C14">
              <a:alpha val="90000"/>
            </a:srgbClr>
          </a:solidFill>
          <a:ln w="11430">
            <a:solidFill>
              <a:srgbClr val="7B5CFF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33101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spc="200">
                <a:solidFill>
                  <a:srgbClr val="E2FF5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36118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 spc="220">
                <a:solidFill>
                  <a:srgbClr val="FFFFFF"/>
                </a:solidFill>
                <a:latin typeface="Segoe UI"/>
              </a:rP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950208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60" b="0" i="0">
                <a:solidFill>
                  <a:srgbClr val="8E93A3"/>
                </a:solidFill>
                <a:latin typeface="Segoe UI"/>
              </a:rPr>
              <a:t>Repo map, diff and @-mentions land before the first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127248"/>
            <a:ext cx="2487168" cy="1993392"/>
          </a:xfrm>
          <a:prstGeom prst="roundRect">
            <a:avLst>
              <a:gd name="adj" fmla="val 6000"/>
            </a:avLst>
          </a:prstGeom>
          <a:solidFill>
            <a:srgbClr val="0C0C14">
              <a:alpha val="90000"/>
            </a:srgbClr>
          </a:solidFill>
          <a:ln w="11430">
            <a:solidFill>
              <a:srgbClr val="7B5CFF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9896" y="33101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spc="200">
                <a:solidFill>
                  <a:srgbClr val="E2FF54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36118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 spc="220">
                <a:solidFill>
                  <a:srgbClr val="FFFFFF"/>
                </a:solidFill>
                <a:latin typeface="Segoe UI"/>
              </a:rPr>
              <a:t>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3950208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60" b="0" i="0">
                <a:solidFill>
                  <a:srgbClr val="8E93A3"/>
                </a:solidFill>
                <a:latin typeface="Segoe UI"/>
              </a:rPr>
              <a:t>Exact-match edits — multi_edit applies atomically or not at 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27248"/>
            <a:ext cx="2487168" cy="1993392"/>
          </a:xfrm>
          <a:prstGeom prst="roundRect">
            <a:avLst>
              <a:gd name="adj" fmla="val 6000"/>
            </a:avLst>
          </a:prstGeom>
          <a:solidFill>
            <a:srgbClr val="0C0C14">
              <a:alpha val="90000"/>
            </a:srgbClr>
          </a:solidFill>
          <a:ln w="11430">
            <a:solidFill>
              <a:srgbClr val="7B5CFF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33101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spc="200">
                <a:solidFill>
                  <a:srgbClr val="E2FF54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6118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 spc="220">
                <a:solidFill>
                  <a:srgbClr val="FFFFFF"/>
                </a:solidFill>
                <a:latin typeface="Segoe UI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950208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60" b="0" i="0">
                <a:solidFill>
                  <a:srgbClr val="8E93A3"/>
                </a:solidFill>
                <a:latin typeface="Segoe UI"/>
              </a:rPr>
              <a:t>Shell and test output come back into context, truncated and safe.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3127248"/>
            <a:ext cx="2487168" cy="1993392"/>
          </a:xfrm>
          <a:prstGeom prst="roundRect">
            <a:avLst>
              <a:gd name="adj" fmla="val 6000"/>
            </a:avLst>
          </a:prstGeom>
          <a:solidFill>
            <a:srgbClr val="0C0C14">
              <a:alpha val="90000"/>
            </a:srgbClr>
          </a:solidFill>
          <a:ln w="11430">
            <a:solidFill>
              <a:srgbClr val="7B5CFF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33101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spc="200">
                <a:solidFill>
                  <a:srgbClr val="E2FF54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36118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 spc="220">
                <a:solidFill>
                  <a:srgbClr val="FFFFFF"/>
                </a:solidFill>
                <a:latin typeface="Segoe UI"/>
              </a:rP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3950208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60" b="0" i="0">
                <a:solidFill>
                  <a:srgbClr val="8E93A3"/>
                </a:solidFill>
                <a:latin typeface="Segoe UI"/>
              </a:rPr>
              <a:t>If it failed, the loop reads the error and tries again.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797296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E2FF54"/>
                </a:solidFill>
                <a:latin typeface="Consolas"/>
              </a:rPr>
              <a:t>verdict(mode, category)</a:t>
            </a:r>
            <a:r>
              <a:rPr sz="850" b="0" i="0">
                <a:solidFill>
                  <a:srgbClr val="8E93A3"/>
                </a:solidFill>
                <a:latin typeface="Segoe UI"/>
              </a:rPr>
              <a:t>  →  allow · ask · 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04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THE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80-60-255.pn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2697480" y="-214884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686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spc="320" cap="all">
                <a:solidFill>
                  <a:srgbClr val="E2FF54"/>
                </a:solidFill>
                <a:latin typeface="Segoe UI"/>
              </a:rPr>
              <a:t>02 —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 i="0" spc="-120">
                <a:solidFill>
                  <a:srgbClr val="FFFFFF"/>
                </a:solidFill>
                <a:latin typeface="Segoe UI"/>
              </a:rPr>
              <a:t>Everything, </a:t>
            </a:r>
            <a:r>
              <a:rPr sz="3800" b="1" i="0" spc="-120">
                <a:solidFill>
                  <a:srgbClr val="C9CCD6"/>
                </a:solidFill>
                <a:latin typeface="Segoe UI"/>
              </a:rPr>
              <a:t>from one prompt.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E93A3"/>
                </a:solidFill>
                <a:latin typeface="Segoe UI"/>
              </a:rPr>
              <a:t>18 tools, 7 context providers, resumable sessions and auto-loaded rules — one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2487168" cy="2084831"/>
          </a:xfrm>
          <a:prstGeom prst="roundRect">
            <a:avLst>
              <a:gd name="adj" fmla="val 6000"/>
            </a:avLst>
          </a:prstGeom>
          <a:solidFill>
            <a:srgbClr val="0C0C14">
              <a:alpha val="90000"/>
            </a:srgbClr>
          </a:solidFill>
          <a:ln w="1143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" y="3255264"/>
            <a:ext cx="777240" cy="219456"/>
          </a:xfrm>
          <a:prstGeom prst="rect">
            <a:avLst/>
          </a:prstGeom>
          <a:solidFill>
            <a:srgbClr val="E2F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291840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 spc="180">
                <a:solidFill>
                  <a:srgbClr val="000000"/>
                </a:solidFill>
                <a:latin typeface="Segoe U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63931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spc="-80">
                <a:solidFill>
                  <a:srgbClr val="FFFFFF"/>
                </a:solidFill>
                <a:latin typeface="Segoe UI"/>
              </a:rPr>
              <a:t>18 schemas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406908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40" b="0" i="0">
                <a:solidFill>
                  <a:srgbClr val="8E93A3"/>
                </a:solidFill>
                <a:latin typeface="Segoe UI"/>
              </a:rPr>
              <a:t>shell · read · write · edit_file · multi_edit · apply_patch · grep · glob · web_fetch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063240"/>
            <a:ext cx="2487168" cy="2084831"/>
          </a:xfrm>
          <a:prstGeom prst="roundRect">
            <a:avLst>
              <a:gd name="adj" fmla="val 6000"/>
            </a:avLst>
          </a:prstGeom>
          <a:solidFill>
            <a:srgbClr val="0C0C14">
              <a:alpha val="90000"/>
            </a:srgbClr>
          </a:solidFill>
          <a:ln w="1143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39896" y="3255264"/>
            <a:ext cx="777240" cy="219456"/>
          </a:xfrm>
          <a:prstGeom prst="rect">
            <a:avLst/>
          </a:prstGeom>
          <a:solidFill>
            <a:srgbClr val="E2F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3291840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 spc="180">
                <a:solidFill>
                  <a:srgbClr val="000000"/>
                </a:solidFill>
                <a:latin typeface="Segoe UI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363931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spc="-80">
                <a:solidFill>
                  <a:srgbClr val="FFFFFF"/>
                </a:solidFill>
                <a:latin typeface="Segoe UI"/>
              </a:rPr>
              <a:t>@-mentions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406908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40" b="0" i="0">
                <a:solidFill>
                  <a:srgbClr val="8E93A3"/>
                </a:solidFill>
                <a:latin typeface="Segoe UI"/>
              </a:rPr>
              <a:t>@file · @folder · @glob · @codebase · @repo-map · @diff · @web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63240"/>
            <a:ext cx="2487168" cy="2084831"/>
          </a:xfrm>
          <a:prstGeom prst="roundRect">
            <a:avLst>
              <a:gd name="adj" fmla="val 6000"/>
            </a:avLst>
          </a:prstGeom>
          <a:solidFill>
            <a:srgbClr val="0C0C14">
              <a:alpha val="90000"/>
            </a:srgbClr>
          </a:solidFill>
          <a:ln w="1143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37376" y="3255264"/>
            <a:ext cx="777240" cy="219456"/>
          </a:xfrm>
          <a:prstGeom prst="rect">
            <a:avLst/>
          </a:prstGeom>
          <a:solidFill>
            <a:srgbClr val="E2F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291840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 spc="180">
                <a:solidFill>
                  <a:srgbClr val="000000"/>
                </a:solidFill>
                <a:latin typeface="Segoe UI"/>
              </a:rPr>
              <a:t>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63931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spc="-80">
                <a:solidFill>
                  <a:srgbClr val="FFFFFF"/>
                </a:solidFill>
                <a:latin typeface="Segoe UI"/>
              </a:rPr>
              <a:t>JSONL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06908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40" b="0" i="0">
                <a:solidFill>
                  <a:srgbClr val="8E93A3"/>
                </a:solidFill>
                <a:latin typeface="Segoe UI"/>
              </a:rPr>
              <a:t>Every turn appended to ~/.nemo/sessions, resumable by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3063240"/>
            <a:ext cx="2487168" cy="2084831"/>
          </a:xfrm>
          <a:prstGeom prst="roundRect">
            <a:avLst>
              <a:gd name="adj" fmla="val 6000"/>
            </a:avLst>
          </a:prstGeom>
          <a:solidFill>
            <a:srgbClr val="0C0C14">
              <a:alpha val="90000"/>
            </a:srgbClr>
          </a:solidFill>
          <a:ln w="1143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4856" y="3255264"/>
            <a:ext cx="777240" cy="219456"/>
          </a:xfrm>
          <a:prstGeom prst="rect">
            <a:avLst/>
          </a:prstGeom>
          <a:solidFill>
            <a:srgbClr val="E2F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3291840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 spc="180">
                <a:solidFill>
                  <a:srgbClr val="000000"/>
                </a:solidFill>
                <a:latin typeface="Segoe UI"/>
              </a:rPr>
              <a:t>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363931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spc="-80">
                <a:solidFill>
                  <a:srgbClr val="FFFFFF"/>
                </a:solidFill>
                <a:latin typeface="Segoe UI"/>
              </a:rPr>
              <a:t>auto-loaded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06908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40" b="0" i="0">
                <a:solidFill>
                  <a:srgbClr val="8E93A3"/>
                </a:solidFill>
                <a:latin typeface="Segoe UI"/>
              </a:rPr>
              <a:t>NEMO.md · AGENTS.md · CLAUDE.md · .nemo/rules/*.md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CD6"/>
                </a:solidFill>
                <a:latin typeface="Segoe UI"/>
              </a:rPr>
              <a:t>No config required.  </a:t>
            </a:r>
            <a:r>
              <a:rPr sz="1100" b="0" i="0">
                <a:solidFill>
                  <a:srgbClr val="C9CCD6"/>
                </a:solidFill>
                <a:latin typeface="Segoe UI"/>
              </a:rPr>
              <a:t>No daemon.  </a:t>
            </a:r>
            <a:r>
              <a:rPr sz="1100" b="0" i="0">
                <a:solidFill>
                  <a:srgbClr val="E2FF54"/>
                </a:solidFill>
                <a:latin typeface="Segoe UI"/>
              </a:rPr>
              <a:t>No account.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05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SURFACE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255-46-154.png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7909560" y="2606039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686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spc="320" cap="all">
                <a:solidFill>
                  <a:srgbClr val="E2FF54"/>
                </a:solidFill>
                <a:latin typeface="Segoe UI"/>
              </a:rPr>
              <a:t>03 —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 i="0" spc="-120">
                <a:solidFill>
                  <a:srgbClr val="FFFFFF"/>
                </a:solidFill>
                <a:latin typeface="Segoe UI"/>
              </a:rPr>
              <a:t>Four modes. </a:t>
            </a:r>
            <a:r>
              <a:rPr sz="3800" b="1" i="0" spc="-120">
                <a:solidFill>
                  <a:srgbClr val="E2FF54"/>
                </a:solidFill>
                <a:latin typeface="Segoe UI"/>
              </a:rPr>
              <a:t>One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6148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 spc="260" cap="all">
                <a:solidFill>
                  <a:srgbClr val="8E93A3"/>
                </a:solidFill>
                <a:latin typeface="Segoe UI"/>
              </a:rPr>
              <a:t>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27614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 spc="260" cap="all">
                <a:solidFill>
                  <a:srgbClr val="8E93A3"/>
                </a:solidFill>
                <a:latin typeface="Segoe UI"/>
              </a:rP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76148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 spc="260" cap="all">
                <a:solidFill>
                  <a:srgbClr val="8E93A3"/>
                </a:solidFill>
                <a:latin typeface="Segoe UI"/>
              </a:rPr>
              <a:t>WRITE / EXEC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76148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 spc="260" cap="all">
                <a:solidFill>
                  <a:srgbClr val="8E93A3"/>
                </a:solidFill>
                <a:latin typeface="Segoe UI"/>
              </a:rPr>
              <a:t>DESTRUCTIVE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76148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 spc="260" cap="all">
                <a:solidFill>
                  <a:srgbClr val="8E93A3"/>
                </a:solidFill>
                <a:latin typeface="Segoe UI"/>
              </a:rPr>
              <a:t>USE IT FOR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017520"/>
            <a:ext cx="10545775" cy="0"/>
          </a:xfrm>
          <a:prstGeom prst="line">
            <a:avLst/>
          </a:prstGeom>
          <a:ln w="9525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32644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 spc="-40">
                <a:solidFill>
                  <a:srgbClr val="FFFFFF"/>
                </a:solidFill>
                <a:latin typeface="Segoe UI"/>
              </a:rPr>
              <a:t>read-only</a:t>
            </a:r>
            <a:r>
              <a:rPr sz="800" b="0" i="0" spc="-40">
                <a:solidFill>
                  <a:srgbClr val="5A5F6E"/>
                </a:solidFill>
                <a:latin typeface="Segoe UI"/>
              </a:rPr>
              <a:t>  inspect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264408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331470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264408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6B8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31470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6B81"/>
                </a:solidFill>
                <a:latin typeface="Segoe UI"/>
              </a:rPr>
              <a:t>DENY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64408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6B8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31470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6B81"/>
                </a:solidFill>
                <a:latin typeface="Segoe UI"/>
              </a:rPr>
              <a:t>DENY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291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8E93A3"/>
                </a:solidFill>
                <a:latin typeface="Segoe UI"/>
              </a:rPr>
              <a:t>Zero-side-effect exploration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858768"/>
            <a:ext cx="10545775" cy="0"/>
          </a:xfrm>
          <a:prstGeom prst="line">
            <a:avLst/>
          </a:prstGeom>
          <a:ln w="9525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397763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 spc="-40">
                <a:solidFill>
                  <a:srgbClr val="FFFFFF"/>
                </a:solidFill>
                <a:latin typeface="Segoe UI"/>
              </a:rPr>
              <a:t>confirm</a:t>
            </a:r>
            <a:r>
              <a:rPr sz="800" b="0" i="0" spc="-40">
                <a:solidFill>
                  <a:srgbClr val="5A5F6E"/>
                </a:solidFill>
                <a:latin typeface="Segoe UI"/>
              </a:rPr>
              <a:t>  default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977639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027931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977639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FF54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027931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E2FF54"/>
                </a:solidFill>
                <a:latin typeface="Segoe UI"/>
              </a:rPr>
              <a:t>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77639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FF54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027931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E2FF54"/>
                </a:solidFill>
                <a:latin typeface="Segoe UI"/>
              </a:rPr>
              <a:t>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005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8E93A3"/>
                </a:solidFill>
                <a:latin typeface="Segoe UI"/>
              </a:rPr>
              <a:t>Pair-programming, every mutation approved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" y="4572000"/>
            <a:ext cx="10545775" cy="0"/>
          </a:xfrm>
          <a:prstGeom prst="line">
            <a:avLst/>
          </a:prstGeom>
          <a:ln w="9525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46908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 spc="-40">
                <a:solidFill>
                  <a:srgbClr val="FFFFFF"/>
                </a:solidFill>
                <a:latin typeface="Segoe UI"/>
              </a:rPr>
              <a:t>auto</a:t>
            </a:r>
            <a:r>
              <a:rPr sz="800" b="0" i="0" spc="-40">
                <a:solidFill>
                  <a:srgbClr val="5A5F6E"/>
                </a:solidFill>
                <a:latin typeface="Segoe UI"/>
              </a:rPr>
              <a:t>  unattended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4690872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474116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4690872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74116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690872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FF54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74116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E2FF54"/>
                </a:solidFill>
                <a:latin typeface="Segoe UI"/>
              </a:rPr>
              <a:t>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7183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8E93A3"/>
                </a:solidFill>
                <a:latin typeface="Segoe UI"/>
              </a:rPr>
              <a:t>Long edits, destruction still guarded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60" y="5285232"/>
            <a:ext cx="10545775" cy="0"/>
          </a:xfrm>
          <a:prstGeom prst="line">
            <a:avLst/>
          </a:prstGeom>
          <a:ln w="9525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2960" y="54041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 spc="-40">
                <a:solidFill>
                  <a:srgbClr val="FFFFFF"/>
                </a:solidFill>
                <a:latin typeface="Segoe UI"/>
              </a:rPr>
              <a:t>full-access</a:t>
            </a:r>
            <a:r>
              <a:rPr sz="800" b="0" i="0" spc="-40">
                <a:solidFill>
                  <a:srgbClr val="5A5F6E"/>
                </a:solidFill>
                <a:latin typeface="Segoe UI"/>
              </a:rPr>
              <a:t>  yolo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5404104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5454396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6280" y="5404104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5454396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404104"/>
            <a:ext cx="96012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5454396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ALLOW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431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8E93A3"/>
                </a:solidFill>
                <a:latin typeface="Segoe UI"/>
              </a:rPr>
              <a:t>Throwaway checkouts only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2960" y="5998464"/>
            <a:ext cx="10545775" cy="0"/>
          </a:xfrm>
          <a:prstGeom prst="line">
            <a:avLst/>
          </a:prstGeom>
          <a:ln w="9525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2960" y="6053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E93A3"/>
                </a:solidFill>
                <a:latin typeface="Segoe UI"/>
              </a:rPr>
              <a:t>Destructive commands always resolve to </a:t>
            </a:r>
            <a:r>
              <a:rPr sz="950" b="1" i="0">
                <a:solidFill>
                  <a:srgbClr val="E2FF54"/>
                </a:solidFill>
                <a:latin typeface="Segoe UI"/>
              </a:rPr>
              <a:t>ask</a:t>
            </a:r>
            <a:r>
              <a:rPr sz="950" b="0" i="0">
                <a:solidFill>
                  <a:srgbClr val="8E93A3"/>
                </a:solidFill>
                <a:latin typeface="Segoe UI"/>
              </a:rPr>
              <a:t> unless full access is explicit.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06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AUTONOMY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110-45-235.png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2377439" y="-4754880"/>
            <a:ext cx="7315200" cy="731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686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spc="320" cap="all">
                <a:solidFill>
                  <a:srgbClr val="E2FF54"/>
                </a:solidFill>
                <a:latin typeface="Segoe UI"/>
              </a:rPr>
              <a:t>04 —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 i="0" spc="-120">
                <a:solidFill>
                  <a:srgbClr val="FFFFFF"/>
                </a:solidFill>
                <a:latin typeface="Segoe UI"/>
              </a:rPr>
              <a:t>Inversion, </a:t>
            </a:r>
            <a:r>
              <a:rPr sz="3800" b="1" i="0" spc="-120">
                <a:solidFill>
                  <a:srgbClr val="C9CCD6"/>
                </a:solidFill>
                <a:latin typeface="Segoe UI"/>
              </a:rPr>
              <a:t>not optimism.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68580" cy="146304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944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60">
                <a:solidFill>
                  <a:srgbClr val="E2FF5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291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 spc="-50">
                <a:solidFill>
                  <a:srgbClr val="FFFFFF"/>
                </a:solidFill>
                <a:latin typeface="Segoe UI"/>
              </a:rPr>
              <a:t>Lexical, not embeddings.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041648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E93A3"/>
                </a:solidFill>
                <a:latin typeface="Segoe UI"/>
              </a:rPr>
              <a:t>Rank by term overlap. Instant, transparent, reproducible — no vector store to keep in sync.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3017520"/>
            <a:ext cx="68580" cy="1463040"/>
          </a:xfrm>
          <a:prstGeom prst="rect">
            <a:avLst/>
          </a:prstGeom>
          <a:solidFill>
            <a:srgbClr val="FF2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44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60">
                <a:solidFill>
                  <a:srgbClr val="E2FF54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 spc="-50">
                <a:solidFill>
                  <a:srgbClr val="FFFFFF"/>
                </a:solidFill>
                <a:latin typeface="Segoe UI"/>
              </a:rPr>
              <a:t>One process, not a daemon.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41648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E93A3"/>
                </a:solidFill>
                <a:latin typeface="Segoe UI"/>
              </a:rPr>
              <a:t>Node strips the TypeScript directly. No build step, no background service, no runtime deps.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3017520"/>
            <a:ext cx="68580" cy="146304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944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60">
                <a:solidFill>
                  <a:srgbClr val="E2FF54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291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 spc="-50">
                <a:solidFill>
                  <a:srgbClr val="FFFFFF"/>
                </a:solidFill>
                <a:latin typeface="Segoe UI"/>
              </a:rPr>
              <a:t>Opt-in, not telemetry.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041648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E93A3"/>
                </a:solidFill>
                <a:latin typeface="Segoe UI"/>
              </a:rPr>
              <a:t>Nothing is reported anywhere. The key lives in the environment and never touches disk.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5650992"/>
            <a:ext cx="1054577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79729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CCD6"/>
                </a:solidFill>
                <a:latin typeface="Segoe UI"/>
              </a:rPr>
              <a:t>A small agent that actually runs end to end beats a large agent that only exists in a deck.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07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PRINCIPLES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95-45-230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143000" y="1234439"/>
            <a:ext cx="7772400" cy="777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686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spc="320" cap="all">
                <a:solidFill>
                  <a:srgbClr val="E2FF54"/>
                </a:solidFill>
                <a:latin typeface="Segoe UI"/>
              </a:rPr>
              <a:t>07 —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43584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 i="0" spc="-120">
                <a:solidFill>
                  <a:srgbClr val="FFFFFF"/>
                </a:solidFill>
                <a:latin typeface="Segoe UI"/>
              </a:rPr>
              <a:t>One prompt. </a:t>
            </a:r>
            <a:r>
              <a:rPr sz="3600" b="1" i="0" spc="-120">
                <a:solidFill>
                  <a:srgbClr val="E2FF54"/>
                </a:solidFill>
                <a:latin typeface="Segoe UI"/>
              </a:rPr>
              <a:t>Real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8E93A3"/>
                </a:solidFill>
                <a:latin typeface="Segoe UI"/>
              </a:rPr>
              <a:t>A privacy-first analytics site — Node backend, three files, no packages, no CDN, no third-party trackers.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0" i="0" spc="-20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6168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 spc="220" cap="all">
                <a:solidFill>
                  <a:srgbClr val="8E93A3"/>
                </a:solidFill>
                <a:latin typeface="Segoe UI"/>
              </a:rPr>
              <a:t>files written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37947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0" i="0" spc="-200">
                <a:solidFill>
                  <a:srgbClr val="FFFFFF"/>
                </a:solidFill>
                <a:latin typeface="Arial Black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436168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 spc="220" cap="all">
                <a:solidFill>
                  <a:srgbClr val="8E93A3"/>
                </a:solidFill>
                <a:latin typeface="Segoe UI"/>
              </a:rPr>
              <a:t>npm 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7375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0" i="0" spc="-200">
                <a:solidFill>
                  <a:srgbClr val="FFFFFF"/>
                </a:solidFill>
                <a:latin typeface="Arial Black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 spc="220" cap="all">
                <a:solidFill>
                  <a:srgbClr val="8E93A3"/>
                </a:solidFill>
                <a:latin typeface="Segoe UI"/>
              </a:rPr>
              <a:t>CDNs / trackers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87375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0" i="0" spc="-200">
                <a:solidFill>
                  <a:srgbClr val="FFFFFF"/>
                </a:solidFill>
                <a:latin typeface="Arial Black"/>
              </a:rPr>
              <a:t>41s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44068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 spc="220" cap="all">
                <a:solidFill>
                  <a:srgbClr val="8E93A3"/>
                </a:solidFill>
                <a:latin typeface="Segoe UI"/>
              </a:rPr>
              <a:t>wall clock</a:t>
            </a:r>
          </a:p>
        </p:txBody>
      </p:sp>
      <p:pic>
        <p:nvPicPr>
          <p:cNvPr id="14" name="Picture 13" descr="demo-still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17320"/>
            <a:ext cx="5532120" cy="284378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89320" y="1417320"/>
            <a:ext cx="5532120" cy="2843784"/>
          </a:xfrm>
          <a:prstGeom prst="roundRect">
            <a:avLst>
              <a:gd name="adj" fmla="val 2000"/>
            </a:avLst>
          </a:prstGeom>
          <a:noFill/>
          <a:ln w="15240">
            <a:solidFill>
              <a:srgbClr val="FF2E9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4407408"/>
            <a:ext cx="55321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8E93A3"/>
                </a:solidFill>
                <a:latin typeface="Segoe UI"/>
              </a:rPr>
              <a:t>LIVE SESSION · NV 1.2 · SESSION JSONL SAVED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08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PROOF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110-45-235.pn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2286000" y="2651760"/>
            <a:ext cx="6400800" cy="6400800"/>
          </a:xfrm>
          <a:prstGeom prst="rect">
            <a:avLst/>
          </a:prstGeom>
        </p:spPr>
      </p:pic>
      <p:pic>
        <p:nvPicPr>
          <p:cNvPr id="3" name="Picture 2" descr="glow-255-40-150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8001000" y="-1874519"/>
            <a:ext cx="59436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8686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spc="320" cap="all">
                <a:solidFill>
                  <a:srgbClr val="E2FF54"/>
                </a:solidFill>
                <a:latin typeface="Segoe UI"/>
              </a:rPr>
              <a:t>06 —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4400" b="1" i="0" spc="-160">
                <a:solidFill>
                  <a:srgbClr val="FFFFFF"/>
                </a:solidFill>
                <a:latin typeface="Segoe UI"/>
              </a:rPr>
              <a:t>Watch it</a:t>
            </a:r>
          </a:p>
          <a:p>
            <a:pPr algn="l">
              <a:lnSpc>
                <a:spcPct val="108000"/>
              </a:lnSpc>
            </a:pPr>
            <a:r>
              <a:rPr sz="4400" b="1" i="0" spc="-160">
                <a:solidFill>
                  <a:srgbClr val="E2FF54"/>
                </a:solidFill>
                <a:latin typeface="Segoe UI"/>
              </a:rPr>
              <a:t>build the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84448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8E93A3"/>
                </a:solidFill>
                <a:latin typeface="Segoe UI"/>
              </a:rPr>
              <a:t>A real terminal session, recorded end to end. No cuts, no staged edits.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617720"/>
            <a:ext cx="1554480" cy="41148"/>
          </a:xfrm>
          <a:prstGeom prst="rect">
            <a:avLst/>
          </a:prstGeom>
          <a:solidFill>
            <a:srgbClr val="E2F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 spc="300" cap="all">
                <a:solidFill>
                  <a:srgbClr val="8E93A3"/>
                </a:solidFill>
                <a:latin typeface="Segoe UI"/>
              </a:rPr>
              <a:t>PLAYS NEXT IN THE VIDEO</a:t>
            </a:r>
          </a:p>
        </p:txBody>
      </p:sp>
      <p:pic>
        <p:nvPicPr>
          <p:cNvPr id="9" name="Picture 8" descr="glow-130-60-255.png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4617720" y="-457200"/>
            <a:ext cx="7315200" cy="7315200"/>
          </a:xfrm>
          <a:prstGeom prst="rect">
            <a:avLst/>
          </a:prstGeom>
        </p:spPr>
      </p:pic>
      <p:pic>
        <p:nvPicPr>
          <p:cNvPr id="10" name="Picture 9" descr="demo-still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554480"/>
            <a:ext cx="6355080" cy="32735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74920" y="1554480"/>
            <a:ext cx="6355080" cy="3273552"/>
          </a:xfrm>
          <a:prstGeom prst="roundRect">
            <a:avLst>
              <a:gd name="adj" fmla="val 1500"/>
            </a:avLst>
          </a:prstGeom>
          <a:noFill/>
          <a:ln w="13970">
            <a:solidFill>
              <a:srgbClr val="FF2E9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4920" y="1207008"/>
            <a:ext cx="114300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2E9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2573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 spc="240" cap="all">
                <a:solidFill>
                  <a:srgbClr val="FFFFFF"/>
                </a:solidFill>
                <a:latin typeface="Segoe UI"/>
              </a:rPr>
              <a:t>●  REC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992624"/>
            <a:ext cx="6355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8E93A3"/>
                </a:solidFill>
                <a:latin typeface="Segoe UI"/>
              </a:rPr>
              <a:t>TERMINAL · NV 1.2 · UNSCHEDULED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09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LIVE 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-110-45-235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4663440" y="91439"/>
            <a:ext cx="8229600" cy="8229600"/>
          </a:xfrm>
          <a:prstGeom prst="rect">
            <a:avLst/>
          </a:prstGeom>
        </p:spPr>
      </p:pic>
      <p:pic>
        <p:nvPicPr>
          <p:cNvPr id="3" name="Picture 2" descr="glow-255-46-154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543800" y="3154680"/>
            <a:ext cx="5029200" cy="5029200"/>
          </a:xfrm>
          <a:prstGeom prst="rect">
            <a:avLst/>
          </a:prstGeom>
        </p:spPr>
      </p:pic>
      <p:pic>
        <p:nvPicPr>
          <p:cNvPr id="4" name="Picture 3" descr="neon-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868680"/>
            <a:ext cx="5669280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74519"/>
            <a:ext cx="731520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 b="0" i="0" spc="-400">
                <a:solidFill>
                  <a:srgbClr val="FFFFFF"/>
                </a:solidFill>
                <a:latin typeface="Arial Black"/>
              </a:rPr>
              <a:t>nemo</a:t>
            </a:r>
            <a:r>
              <a:rPr sz="12000" b="0" i="0" spc="-400">
                <a:solidFill>
                  <a:srgbClr val="E2FF54"/>
                </a:solidFill>
                <a:latin typeface="Arial Black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6732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9CCD6"/>
                </a:solidFill>
                <a:latin typeface="Segoe UI"/>
              </a:rPr>
              <a:t>The autonomous coding agent, in your terminal.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FF54"/>
                </a:solidFill>
                <a:latin typeface="Consolas"/>
              </a:rPr>
              <a:t>$ nemo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8523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0" i="0" spc="240" cap="all">
                <a:solidFill>
                  <a:srgbClr val="8E93A3"/>
                </a:solidFill>
                <a:latin typeface="Segoe UI"/>
              </a:rPr>
              <a:t>Node 22.6+  ·  NVIDIA NIM  ·  Apache-2.0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E"/>
                </a:solidFill>
                <a:latin typeface="Segoe UI"/>
              </a:rPr>
              <a:t>Built for terminals. Shipped for humans.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 spc="280" cap="all">
                <a:solidFill>
                  <a:srgbClr val="5A5F6E"/>
                </a:solidFill>
                <a:latin typeface="Segoe UI"/>
              </a:rPr>
              <a:t>NEMO CLI  ·  NV 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6419088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 spc="240" cap="all">
                <a:solidFill>
                  <a:srgbClr val="FFFFFF"/>
                </a:solidFill>
                <a:latin typeface="Segoe UI"/>
              </a:rPr>
              <a:t>10</a:t>
            </a:r>
            <a:r>
              <a:rPr sz="700" b="0" i="0" spc="240" cap="all">
                <a:solidFill>
                  <a:srgbClr val="5A5F6E"/>
                </a:solidFill>
                <a:latin typeface="Segoe UI"/>
              </a:rPr>
              <a:t> / 10</a:t>
            </a:r>
            <a:r>
              <a:rPr sz="700" b="0" i="0" spc="240" cap="all">
                <a:solidFill>
                  <a:srgbClr val="FFFFFF"/>
                </a:solidFill>
                <a:latin typeface="Segoe UI"/>
              </a:rPr>
              <a:t>     </a:t>
            </a:r>
            <a:r>
              <a:rPr sz="700" b="0" i="0" spc="240" cap="all">
                <a:solidFill>
                  <a:srgbClr val="8E93A3"/>
                </a:solidFill>
                <a:latin typeface="Segoe UI"/>
              </a:rPr>
              <a:t>CLOSING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52744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9048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1655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59" y="6446520"/>
            <a:ext cx="68580" cy="68580"/>
          </a:xfrm>
          <a:prstGeom prst="rect">
            <a:avLst/>
          </a:prstGeom>
          <a:solidFill>
            <a:srgbClr val="7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 CLI — The autonomous coding agent</dc:title>
  <dc:subject>NEMO CLI deck, NV 1.2</dc:subject>
  <dc:creator>Shrijan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